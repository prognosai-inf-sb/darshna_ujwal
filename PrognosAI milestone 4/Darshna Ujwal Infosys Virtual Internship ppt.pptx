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7F70F-C9A5-492F-B7B8-FD27C7ACD501}" v="10" dt="2025-11-10T13:44:17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na Ujwal" userId="eeb4bb71ac414b61" providerId="LiveId" clId="{4FAEC512-1E87-4500-8F88-E382721B95B6}"/>
    <pc:docChg chg="custSel modSld">
      <pc:chgData name="Darshna Ujwal" userId="eeb4bb71ac414b61" providerId="LiveId" clId="{4FAEC512-1E87-4500-8F88-E382721B95B6}" dt="2025-11-10T13:45:43.385" v="115" actId="20577"/>
      <pc:docMkLst>
        <pc:docMk/>
      </pc:docMkLst>
      <pc:sldChg chg="modSp mod">
        <pc:chgData name="Darshna Ujwal" userId="eeb4bb71ac414b61" providerId="LiveId" clId="{4FAEC512-1E87-4500-8F88-E382721B95B6}" dt="2025-11-10T13:38:18.233" v="34" actId="20577"/>
        <pc:sldMkLst>
          <pc:docMk/>
          <pc:sldMk cId="4172752816" sldId="258"/>
        </pc:sldMkLst>
        <pc:spChg chg="mod">
          <ac:chgData name="Darshna Ujwal" userId="eeb4bb71ac414b61" providerId="LiveId" clId="{4FAEC512-1E87-4500-8F88-E382721B95B6}" dt="2025-11-10T13:38:18.233" v="34" actId="20577"/>
          <ac:spMkLst>
            <pc:docMk/>
            <pc:sldMk cId="4172752816" sldId="258"/>
            <ac:spMk id="3" creationId="{F9640E6F-A792-CFED-A898-CD0CC764203B}"/>
          </ac:spMkLst>
        </pc:spChg>
      </pc:sldChg>
      <pc:sldChg chg="modSp mod">
        <pc:chgData name="Darshna Ujwal" userId="eeb4bb71ac414b61" providerId="LiveId" clId="{4FAEC512-1E87-4500-8F88-E382721B95B6}" dt="2025-11-10T13:39:49.119" v="55"/>
        <pc:sldMkLst>
          <pc:docMk/>
          <pc:sldMk cId="2183772953" sldId="259"/>
        </pc:sldMkLst>
        <pc:spChg chg="mod">
          <ac:chgData name="Darshna Ujwal" userId="eeb4bb71ac414b61" providerId="LiveId" clId="{4FAEC512-1E87-4500-8F88-E382721B95B6}" dt="2025-11-10T13:39:49.119" v="55"/>
          <ac:spMkLst>
            <pc:docMk/>
            <pc:sldMk cId="2183772953" sldId="259"/>
            <ac:spMk id="5" creationId="{F36690E1-5EAA-EB0C-5BFD-467D55119B82}"/>
          </ac:spMkLst>
        </pc:spChg>
      </pc:sldChg>
      <pc:sldChg chg="modSp mod">
        <pc:chgData name="Darshna Ujwal" userId="eeb4bb71ac414b61" providerId="LiveId" clId="{4FAEC512-1E87-4500-8F88-E382721B95B6}" dt="2025-11-10T13:45:11.993" v="113" actId="313"/>
        <pc:sldMkLst>
          <pc:docMk/>
          <pc:sldMk cId="988477936" sldId="260"/>
        </pc:sldMkLst>
        <pc:spChg chg="mod">
          <ac:chgData name="Darshna Ujwal" userId="eeb4bb71ac414b61" providerId="LiveId" clId="{4FAEC512-1E87-4500-8F88-E382721B95B6}" dt="2025-11-10T13:45:11.993" v="113" actId="313"/>
          <ac:spMkLst>
            <pc:docMk/>
            <pc:sldMk cId="988477936" sldId="260"/>
            <ac:spMk id="3" creationId="{E79B04F3-283D-4078-6C83-6C9DE4B1257C}"/>
          </ac:spMkLst>
        </pc:spChg>
      </pc:sldChg>
      <pc:sldChg chg="modSp">
        <pc:chgData name="Darshna Ujwal" userId="eeb4bb71ac414b61" providerId="LiveId" clId="{4FAEC512-1E87-4500-8F88-E382721B95B6}" dt="2025-11-10T13:41:16.012" v="59"/>
        <pc:sldMkLst>
          <pc:docMk/>
          <pc:sldMk cId="1789418120" sldId="261"/>
        </pc:sldMkLst>
        <pc:spChg chg="mod">
          <ac:chgData name="Darshna Ujwal" userId="eeb4bb71ac414b61" providerId="LiveId" clId="{4FAEC512-1E87-4500-8F88-E382721B95B6}" dt="2025-11-10T13:41:16.012" v="59"/>
          <ac:spMkLst>
            <pc:docMk/>
            <pc:sldMk cId="1789418120" sldId="261"/>
            <ac:spMk id="3" creationId="{95EF1421-DC89-8CF1-690B-39B19311713E}"/>
          </ac:spMkLst>
        </pc:spChg>
      </pc:sldChg>
      <pc:sldChg chg="modSp mod">
        <pc:chgData name="Darshna Ujwal" userId="eeb4bb71ac414b61" providerId="LiveId" clId="{4FAEC512-1E87-4500-8F88-E382721B95B6}" dt="2025-11-10T13:45:43.385" v="115" actId="20577"/>
        <pc:sldMkLst>
          <pc:docMk/>
          <pc:sldMk cId="2347637055" sldId="263"/>
        </pc:sldMkLst>
        <pc:spChg chg="mod">
          <ac:chgData name="Darshna Ujwal" userId="eeb4bb71ac414b61" providerId="LiveId" clId="{4FAEC512-1E87-4500-8F88-E382721B95B6}" dt="2025-11-10T13:45:43.385" v="115" actId="20577"/>
          <ac:spMkLst>
            <pc:docMk/>
            <pc:sldMk cId="2347637055" sldId="263"/>
            <ac:spMk id="3" creationId="{653C2353-6F2E-7691-D4FB-DACFDAC8882B}"/>
          </ac:spMkLst>
        </pc:spChg>
      </pc:sldChg>
      <pc:sldChg chg="modSp mod">
        <pc:chgData name="Darshna Ujwal" userId="eeb4bb71ac414b61" providerId="LiveId" clId="{4FAEC512-1E87-4500-8F88-E382721B95B6}" dt="2025-11-10T13:42:13.901" v="67" actId="113"/>
        <pc:sldMkLst>
          <pc:docMk/>
          <pc:sldMk cId="2469734132" sldId="264"/>
        </pc:sldMkLst>
        <pc:spChg chg="mod">
          <ac:chgData name="Darshna Ujwal" userId="eeb4bb71ac414b61" providerId="LiveId" clId="{4FAEC512-1E87-4500-8F88-E382721B95B6}" dt="2025-11-10T13:42:13.901" v="67" actId="113"/>
          <ac:spMkLst>
            <pc:docMk/>
            <pc:sldMk cId="2469734132" sldId="264"/>
            <ac:spMk id="3" creationId="{20FE2DF0-8DDE-2319-51CA-4F2DE21038D0}"/>
          </ac:spMkLst>
        </pc:spChg>
      </pc:sldChg>
      <pc:sldChg chg="modSp mod">
        <pc:chgData name="Darshna Ujwal" userId="eeb4bb71ac414b61" providerId="LiveId" clId="{4FAEC512-1E87-4500-8F88-E382721B95B6}" dt="2025-11-10T13:42:49.503" v="87" actId="20577"/>
        <pc:sldMkLst>
          <pc:docMk/>
          <pc:sldMk cId="2110925506" sldId="265"/>
        </pc:sldMkLst>
        <pc:spChg chg="mod">
          <ac:chgData name="Darshna Ujwal" userId="eeb4bb71ac414b61" providerId="LiveId" clId="{4FAEC512-1E87-4500-8F88-E382721B95B6}" dt="2025-11-10T13:42:49.503" v="87" actId="20577"/>
          <ac:spMkLst>
            <pc:docMk/>
            <pc:sldMk cId="2110925506" sldId="265"/>
            <ac:spMk id="3" creationId="{FCD9CF64-B246-FB2A-D02F-26F600A7C171}"/>
          </ac:spMkLst>
        </pc:spChg>
      </pc:sldChg>
      <pc:sldChg chg="modSp mod">
        <pc:chgData name="Darshna Ujwal" userId="eeb4bb71ac414b61" providerId="LiveId" clId="{4FAEC512-1E87-4500-8F88-E382721B95B6}" dt="2025-11-10T13:43:28.247" v="99" actId="20577"/>
        <pc:sldMkLst>
          <pc:docMk/>
          <pc:sldMk cId="3311737558" sldId="266"/>
        </pc:sldMkLst>
        <pc:spChg chg="mod">
          <ac:chgData name="Darshna Ujwal" userId="eeb4bb71ac414b61" providerId="LiveId" clId="{4FAEC512-1E87-4500-8F88-E382721B95B6}" dt="2025-11-10T13:43:28.247" v="99" actId="20577"/>
          <ac:spMkLst>
            <pc:docMk/>
            <pc:sldMk cId="3311737558" sldId="266"/>
            <ac:spMk id="3" creationId="{04895327-9FF3-0620-89AD-DB5AED92316C}"/>
          </ac:spMkLst>
        </pc:spChg>
      </pc:sldChg>
      <pc:sldChg chg="modSp mod">
        <pc:chgData name="Darshna Ujwal" userId="eeb4bb71ac414b61" providerId="LiveId" clId="{4FAEC512-1E87-4500-8F88-E382721B95B6}" dt="2025-11-10T13:43:49.532" v="106" actId="20577"/>
        <pc:sldMkLst>
          <pc:docMk/>
          <pc:sldMk cId="399876865" sldId="267"/>
        </pc:sldMkLst>
        <pc:spChg chg="mod">
          <ac:chgData name="Darshna Ujwal" userId="eeb4bb71ac414b61" providerId="LiveId" clId="{4FAEC512-1E87-4500-8F88-E382721B95B6}" dt="2025-11-10T13:43:49.532" v="106" actId="20577"/>
          <ac:spMkLst>
            <pc:docMk/>
            <pc:sldMk cId="399876865" sldId="267"/>
            <ac:spMk id="3" creationId="{EC9BA150-7DBE-B470-F286-61318DB9617E}"/>
          </ac:spMkLst>
        </pc:spChg>
      </pc:sldChg>
      <pc:sldChg chg="addSp modSp mod">
        <pc:chgData name="Darshna Ujwal" userId="eeb4bb71ac414b61" providerId="LiveId" clId="{4FAEC512-1E87-4500-8F88-E382721B95B6}" dt="2025-11-10T13:37:38.269" v="11" actId="1076"/>
        <pc:sldMkLst>
          <pc:docMk/>
          <pc:sldMk cId="1704918614" sldId="268"/>
        </pc:sldMkLst>
        <pc:picChg chg="mod">
          <ac:chgData name="Darshna Ujwal" userId="eeb4bb71ac414b61" providerId="LiveId" clId="{4FAEC512-1E87-4500-8F88-E382721B95B6}" dt="2025-11-10T13:37:18.172" v="3" actId="1076"/>
          <ac:picMkLst>
            <pc:docMk/>
            <pc:sldMk cId="1704918614" sldId="268"/>
            <ac:picMk id="13" creationId="{086489AD-B46F-DABC-576C-1E09056EF360}"/>
          </ac:picMkLst>
        </pc:picChg>
        <pc:picChg chg="mod">
          <ac:chgData name="Darshna Ujwal" userId="eeb4bb71ac414b61" providerId="LiveId" clId="{4FAEC512-1E87-4500-8F88-E382721B95B6}" dt="2025-11-10T13:37:29.962" v="8" actId="1076"/>
          <ac:picMkLst>
            <pc:docMk/>
            <pc:sldMk cId="1704918614" sldId="268"/>
            <ac:picMk id="15" creationId="{67E12927-67C3-A6DC-9E71-37D3EE1D525E}"/>
          </ac:picMkLst>
        </pc:picChg>
        <pc:picChg chg="mod">
          <ac:chgData name="Darshna Ujwal" userId="eeb4bb71ac414b61" providerId="LiveId" clId="{4FAEC512-1E87-4500-8F88-E382721B95B6}" dt="2025-11-10T13:37:27.042" v="7" actId="1076"/>
          <ac:picMkLst>
            <pc:docMk/>
            <pc:sldMk cId="1704918614" sldId="268"/>
            <ac:picMk id="17" creationId="{F8A8160D-B5C8-4504-E16C-A693E08F04B4}"/>
          </ac:picMkLst>
        </pc:picChg>
        <pc:picChg chg="add mod">
          <ac:chgData name="Darshna Ujwal" userId="eeb4bb71ac414b61" providerId="LiveId" clId="{4FAEC512-1E87-4500-8F88-E382721B95B6}" dt="2025-11-10T13:37:38.269" v="11" actId="1076"/>
          <ac:picMkLst>
            <pc:docMk/>
            <pc:sldMk cId="1704918614" sldId="268"/>
            <ac:picMk id="19" creationId="{FF29B5CC-AD37-EA15-7090-7FC23B5051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97C6-63FC-F9B7-FD24-F94126975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572768"/>
            <a:ext cx="8361229" cy="2432784"/>
          </a:xfrm>
        </p:spPr>
        <p:txBody>
          <a:bodyPr/>
          <a:lstStyle/>
          <a:p>
            <a:r>
              <a:rPr lang="en-IN" sz="4000" dirty="0"/>
              <a:t>Infosys Virtual Internship</a:t>
            </a:r>
            <a:br>
              <a:rPr lang="en-IN" sz="4000" dirty="0"/>
            </a:br>
            <a:br>
              <a:rPr lang="en-IN" sz="4000" dirty="0"/>
            </a:br>
            <a:r>
              <a:rPr lang="en-IN" sz="4000" dirty="0" err="1"/>
              <a:t>PrognosAI</a:t>
            </a:r>
            <a:r>
              <a:rPr lang="en-IN" sz="4000" dirty="0"/>
              <a:t>: AI-Driven Predictive Maintenance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1316BD-79B0-E30D-A5B9-B2E3DF67B6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15128" y="5080938"/>
            <a:ext cx="16850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Presented by-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Darshna Ujwal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3" descr="Image result for A bold image representing predictive analytics">
            <a:extLst>
              <a:ext uri="{FF2B5EF4-FFF2-40B4-BE49-F238E27FC236}">
                <a16:creationId xmlns:a16="http://schemas.microsoft.com/office/drawing/2014/main" id="{DDB703C7-ECB7-9CBA-BA2E-8066517EBF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0AE4A8-7366-8EBC-88A0-4AFF254DC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292" y="4289678"/>
            <a:ext cx="18669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35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C02A-016B-DBA9-ED34-9237A70E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0E6F-A792-CFED-A898-CD0CC7642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develop a reliable AI-based system that estimates the Remaining Useful Life (RUL) of turbofan engines. This prediction is based on analyzing multivariate time-series sensor data from the NASA CMAPSS dataset.</a:t>
            </a:r>
          </a:p>
          <a:p>
            <a:r>
              <a:rPr lang="en-US" dirty="0"/>
              <a:t>We apply Deep Learning (GRU Networks) to recognize the subtle, sequential degradation patterns in the sensor data to accurately forecast the time until failure.</a:t>
            </a:r>
          </a:p>
          <a:p>
            <a:r>
              <a:rPr lang="en-US" dirty="0"/>
              <a:t>The system enables proactive maintenance scheduling, directly minimizing costly unplanned downtime and maximizing the operational life and efficiency of critical assets.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752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857F-FB51-6705-732B-87EDB03F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1: Data Preparation &amp; Feature Engineering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6690E1-5EAA-EB0C-5BFD-467D55119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originated from the NASA CMAPSS FD001 dataset. We performed necessary cleaning steps, including removing static and irrelevant sensor columns (which have zero variance) and applying Min-Max Scaling (0 to 1) to all dynamic features for GRU stability.</a:t>
            </a:r>
          </a:p>
          <a:p>
            <a:r>
              <a:rPr lang="en-US" dirty="0"/>
              <a:t>The RUL target variable was calculated for every engine cycle as: RUL = Total\ Cycles - Current\ Cycle. We applied Min-Max Scaling to all dynamic features, normalizing values between 0 and 1 to ensure neural network stability.</a:t>
            </a:r>
          </a:p>
          <a:p>
            <a:r>
              <a:rPr lang="en-US" dirty="0"/>
              <a:t>We converted the flat data into a 3D format using a 50-cycle rolling window (Sequences). This structure is essential for training Recurrent Neural Networks (RNNs) to analyze history.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77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5CC3-86F2-77A3-4883-996F4002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2: Model Architecture and 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04F3-283D-4078-6C83-6C9DE4B1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Gated Recurrent Unit (GRU) Network. Selected over LSTM for its combination of efficiency and strong performance in time-series prediction.</a:t>
            </a:r>
          </a:p>
          <a:p>
            <a:r>
              <a:rPr lang="en-US" dirty="0"/>
              <a:t>A robust stacked design (128 -&gt; 64 units) to effectively capture long-term memory in the 50-cycle sequences.</a:t>
            </a:r>
          </a:p>
          <a:p>
            <a:r>
              <a:rPr lang="en-US" dirty="0"/>
              <a:t>RUL Clipping (100 Cycles): We capped the target RUL at 100. This forces the model's predictive power onto the critical 100 cycles before failure, which is the key to achieving high R^2.</a:t>
            </a:r>
          </a:p>
          <a:p>
            <a:r>
              <a:rPr lang="en-US" dirty="0"/>
              <a:t>Unit-Based Splitting: We used “</a:t>
            </a:r>
            <a:r>
              <a:rPr lang="en-US" dirty="0" err="1"/>
              <a:t>GroupShuffleSplit</a:t>
            </a:r>
            <a:r>
              <a:rPr lang="en-US" dirty="0"/>
              <a:t>” to ensure the test data only contains entirely unseen engine IDs. This guarantees the model's high R^2 genuinely proves its ability to generalize to new machines.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47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9BFC-B492-F8E4-2C21-AB11F0BE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3: Performance and Predictive Reliability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F1421-DC89-8CF1-690B-39B19311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R-squared (R^2): &gt;0.95. (Explains over 95\% of the degradation variance.)</a:t>
            </a:r>
          </a:p>
          <a:p>
            <a:r>
              <a:rPr lang="en-US" dirty="0"/>
              <a:t>Root Mean Squared Error (RMSE): &lt;7.3 cycles. This means the average prediction error is extremely low.</a:t>
            </a:r>
          </a:p>
          <a:p>
            <a:r>
              <a:rPr lang="en-US" dirty="0"/>
              <a:t>Charts comparing Predicted RUL vs. Actual RUL confirm strong visual consistency.</a:t>
            </a:r>
          </a:p>
          <a:p>
            <a:r>
              <a:rPr lang="en-US" dirty="0"/>
              <a:t>Error Histogram shows errors are tightly centered at zero, proving the model has no significant systemic bias to predict RUL too early or too late.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41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B59E-F170-56E0-80E9-5C0F44ED8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3 visualization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2A62EB-23A4-0FF0-2628-1009009796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17136" y="1737359"/>
            <a:ext cx="4448175" cy="20620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28C6A4-0D65-DFBF-C6CC-77163E008A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82112" y="2057086"/>
            <a:ext cx="7397497" cy="445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6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E498-9C71-60CE-E96C-EE86A84C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M4: Risk Thresholding and Alert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C2353-6F2E-7691-D4FB-DACFDAC88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Translate numerical RUL predictions into clear, actionable commands for maintenance staff.</a:t>
            </a:r>
          </a:p>
          <a:p>
            <a:r>
              <a:rPr lang="en-IN" dirty="0"/>
              <a:t>Warning Zone</a:t>
            </a:r>
            <a:r>
              <a:rPr lang="en-IN"/>
              <a:t>: RUL: 30 </a:t>
            </a:r>
            <a:r>
              <a:rPr lang="en-IN" dirty="0"/>
              <a:t>cycles. (High-priority planning required). Critical Zone: RUL  10 cycles. (Immediate action/Asset must be grounded).</a:t>
            </a:r>
          </a:p>
          <a:p>
            <a:r>
              <a:rPr lang="en-US" dirty="0"/>
              <a:t>Custom Python logic automatically classifies every new prediction into HEALTHY, WARNING, or CRITICAL status.</a:t>
            </a:r>
          </a:p>
          <a:p>
            <a:r>
              <a:rPr lang="en-US" dirty="0"/>
              <a:t>This layer transforms a mathematical result into a crucial business signal, allowing for timely intervention based on defined risk levels.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63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474F-3C88-E56D-2257-A0974ED5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M5: Visualization and Dashboard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E2DF0-8DDE-2319-51CA-4F2DE210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Platform- </a:t>
            </a:r>
            <a:r>
              <a:rPr lang="en-US" dirty="0" err="1"/>
              <a:t>Streamlit</a:t>
            </a:r>
            <a:r>
              <a:rPr lang="en-US" dirty="0"/>
              <a:t> (Python Application) and </a:t>
            </a:r>
            <a:r>
              <a:rPr lang="en-US" dirty="0" err="1"/>
              <a:t>Plotly</a:t>
            </a:r>
            <a:r>
              <a:rPr lang="en-US" dirty="0"/>
              <a:t> (Interactive Charts).</a:t>
            </a:r>
          </a:p>
          <a:p>
            <a:r>
              <a:rPr lang="en-US" dirty="0"/>
              <a:t>A user-friendly, responsive dashboard that allows users to select individual Engine Units for analysis via a sidebar.</a:t>
            </a:r>
          </a:p>
          <a:p>
            <a:r>
              <a:rPr lang="en-US" dirty="0"/>
              <a:t>Interactive RUL Trend Chart: Plots the degradation trend against the maintenance alert zones, providing zoom and hover functionality for precise data inspection.</a:t>
            </a:r>
          </a:p>
          <a:p>
            <a:r>
              <a:rPr lang="en-US" dirty="0"/>
              <a:t>The dashboard is clear, responsive, and meets all requirements for conveying asset health and potential risks to the user.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734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157CC-12E0-F59B-AF22-91F7C9E7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Screens</a:t>
            </a: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86489AD-B46F-DABC-576C-1E09056EF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839" y="1508070"/>
            <a:ext cx="4602768" cy="242067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E12927-67C3-A6DC-9E71-37D3EE1D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56" y="1508070"/>
            <a:ext cx="4602769" cy="24255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A8160D-B5C8-4504-E16C-A693E08F0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" y="4220320"/>
            <a:ext cx="4610225" cy="24206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29B5CC-AD37-EA15-7090-7FC23B505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024" y="4220320"/>
            <a:ext cx="4605736" cy="242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18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022C-DCBF-3EE6-3EC8-57946E08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Summary: From Data to Decision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9CF64-B246-FB2A-D02F-26F600A7C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M1 &amp; M2 - Data Foundation &amp; Training: Successfully preprocessed data, applied RUL Clipping, and trained a GRU network to achieve R^2 &gt; 0.95 precision.</a:t>
            </a:r>
          </a:p>
          <a:p>
            <a:r>
              <a:rPr lang="en-US" dirty="0"/>
              <a:t>M3 &amp; M4 - Validation &amp; Action: Proved model reliability (zero bias) and implemented the Warning/Critical alert system logic.</a:t>
            </a:r>
          </a:p>
          <a:p>
            <a:r>
              <a:rPr lang="en-US" dirty="0"/>
              <a:t>M5 - Deployment: Delivered a functional, integrated </a:t>
            </a:r>
            <a:r>
              <a:rPr lang="en-US" dirty="0" err="1"/>
              <a:t>Streamlit</a:t>
            </a:r>
            <a:r>
              <a:rPr lang="en-US" dirty="0"/>
              <a:t> Dashboard for user interaction and real-time visualization of predictions and alerts.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92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3435-C01E-54E4-1D4C-916E4D8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Stack and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95327-9FF3-0620-89AD-DB5AED92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Tech Stack - Python, Pandas, NumPy (Data), TensorFlow/</a:t>
            </a:r>
            <a:r>
              <a:rPr lang="en-IN" dirty="0" err="1"/>
              <a:t>Keras</a:t>
            </a:r>
            <a:r>
              <a:rPr lang="en-IN" dirty="0"/>
              <a:t> (GRU Model), </a:t>
            </a:r>
            <a:r>
              <a:rPr lang="en-IN" dirty="0" err="1"/>
              <a:t>Streamlit</a:t>
            </a:r>
            <a:r>
              <a:rPr lang="en-IN" dirty="0"/>
              <a:t> (Dashboard), </a:t>
            </a:r>
            <a:r>
              <a:rPr lang="en-IN" dirty="0" err="1"/>
              <a:t>Plotly</a:t>
            </a:r>
            <a:r>
              <a:rPr lang="en-IN" dirty="0"/>
              <a:t> (Interactive Charts).Final </a:t>
            </a:r>
          </a:p>
          <a:p>
            <a:r>
              <a:rPr lang="en-IN" dirty="0"/>
              <a:t>Deliverables - best\_</a:t>
            </a:r>
            <a:r>
              <a:rPr lang="en-IN" dirty="0" err="1"/>
              <a:t>rul</a:t>
            </a:r>
            <a:r>
              <a:rPr lang="en-IN" dirty="0"/>
              <a:t>\_</a:t>
            </a:r>
            <a:r>
              <a:rPr lang="en-IN" dirty="0" err="1"/>
              <a:t>gru</a:t>
            </a:r>
            <a:r>
              <a:rPr lang="en-IN" dirty="0"/>
              <a:t>\_model.h5 (Trained Model), 3\_evaluation\_and\_</a:t>
            </a:r>
            <a:r>
              <a:rPr lang="en-IN" dirty="0" err="1"/>
              <a:t>alerting.ipynb</a:t>
            </a:r>
            <a:r>
              <a:rPr lang="en-IN" dirty="0"/>
              <a:t> (Analysis), prognosai\_dashboard.py (Final Application).</a:t>
            </a:r>
          </a:p>
        </p:txBody>
      </p:sp>
    </p:spTree>
    <p:extLst>
      <p:ext uri="{BB962C8B-B14F-4D97-AF65-F5344CB8AC3E}">
        <p14:creationId xmlns:p14="http://schemas.microsoft.com/office/powerpoint/2010/main" val="3311737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A763-D48D-38AA-ED08-84CACCB0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 </a:t>
            </a:r>
            <a:r>
              <a:rPr lang="en-IN" dirty="0" err="1"/>
              <a:t>PrognosAI</a:t>
            </a:r>
            <a:r>
              <a:rPr lang="en-IN" dirty="0"/>
              <a:t> is Production-Ready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BA150-7DBE-B470-F286-61318DB96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Final Impact - The system provides a highly accurate, reliable, and actionable solution to a critical industry problem: minimizing unplanned downtime.</a:t>
            </a:r>
          </a:p>
          <a:p>
            <a:r>
              <a:rPr lang="en-IN" dirty="0"/>
              <a:t>Future Work - Expand the model's scope to other CMAPSS datasets for multi-fleet generalization. Integrate financial modules to calculate the cost savings achieved through preventative maintenance.</a:t>
            </a:r>
          </a:p>
        </p:txBody>
      </p:sp>
    </p:spTree>
    <p:extLst>
      <p:ext uri="{BB962C8B-B14F-4D97-AF65-F5344CB8AC3E}">
        <p14:creationId xmlns:p14="http://schemas.microsoft.com/office/powerpoint/2010/main" val="39987686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{B58961F9-209E-4DE4-8917-238266C40C56}tf10001105</Template>
  <TotalTime>40</TotalTime>
  <Words>835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Franklin Gothic Book</vt:lpstr>
      <vt:lpstr>Crop</vt:lpstr>
      <vt:lpstr>Infosys Virtual Internship  PrognosAI: AI-Driven Predictive Maintenance System</vt:lpstr>
      <vt:lpstr>Project Objective</vt:lpstr>
      <vt:lpstr>Milestone 1: Data Preparation &amp; Feature Engineering</vt:lpstr>
      <vt:lpstr>Milestone 2: Model Architecture and Optimization</vt:lpstr>
      <vt:lpstr>Milestone 3: Performance and Predictive Reliability</vt:lpstr>
      <vt:lpstr>Milestone 3 visualization</vt:lpstr>
      <vt:lpstr>M4: Risk Thresholding and Alert System</vt:lpstr>
      <vt:lpstr>M5: Visualization and Dashboard Development</vt:lpstr>
      <vt:lpstr>Output Screens</vt:lpstr>
      <vt:lpstr>Project Summary: From Data to Decision</vt:lpstr>
      <vt:lpstr>Technical Stack and Deliverables</vt:lpstr>
      <vt:lpstr>Conclusion: PrognosAI is Production-Ready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Darshna Ujwal</dc:creator>
  <cp:lastModifiedBy>Darshna Ujwal</cp:lastModifiedBy>
  <cp:revision>1</cp:revision>
  <dcterms:created xsi:type="dcterms:W3CDTF">2025-11-10T13:05:18Z</dcterms:created>
  <dcterms:modified xsi:type="dcterms:W3CDTF">2025-11-10T13:45:48Z</dcterms:modified>
</cp:coreProperties>
</file>